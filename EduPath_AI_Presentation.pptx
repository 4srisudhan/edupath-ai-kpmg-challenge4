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3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052560" y="640080"/>
            <a:ext cx="2011680" cy="2011680"/>
          </a:xfrm>
          <a:prstGeom prst="ellipse">
            <a:avLst/>
          </a:prstGeom>
          <a:solidFill>
            <a:srgbClr val="2D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149840" y="1828800"/>
            <a:ext cx="1188720" cy="1188720"/>
          </a:xfrm>
          <a:prstGeom prst="ellipse">
            <a:avLst/>
          </a:prstGeom>
          <a:solidFill>
            <a:srgbClr val="23B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503920" y="3108960"/>
            <a:ext cx="731520" cy="731520"/>
          </a:xfrm>
          <a:prstGeom prst="ellipse">
            <a:avLst/>
          </a:prstGeom>
          <a:solidFill>
            <a:srgbClr val="FFB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332720" y="3840480"/>
            <a:ext cx="1554480" cy="1554480"/>
          </a:xfrm>
          <a:prstGeom prst="ellipse">
            <a:avLst/>
          </a:prstGeom>
          <a:solidFill>
            <a:srgbClr val="2341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143000"/>
            <a:ext cx="7498079" cy="685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"/>
              </a:defRPr>
            </a:pPr>
            <a:r>
              <a:t>🎓 EDUPATH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011680"/>
            <a:ext cx="7223760" cy="1371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000" b="1">
                <a:solidFill>
                  <a:srgbClr val="DCEBFF"/>
                </a:solidFill>
                <a:latin typeface="Aptos"/>
              </a:defRPr>
            </a:pPr>
            <a:r>
              <a:t>AI-Powered Student</a:t>
            </a:r>
            <a:br/>
            <a:r>
              <a:t>Success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3886200"/>
            <a:ext cx="713232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800" b="1">
                <a:solidFill>
                  <a:srgbClr val="23B4AA"/>
                </a:solidFill>
                <a:latin typeface="Aptos"/>
              </a:defRPr>
            </a:pPr>
            <a:r>
              <a:t>Predict early. Understand risk. Recommend action.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896112" y="4617720"/>
            <a:ext cx="1143000" cy="64008"/>
          </a:xfrm>
          <a:prstGeom prst="rect">
            <a:avLst/>
          </a:prstGeom>
          <a:solidFill>
            <a:srgbClr val="FFB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4892040"/>
            <a:ext cx="713232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0">
                <a:solidFill>
                  <a:srgbClr val="FFFFFF"/>
                </a:solidFill>
                <a:latin typeface="Aptos"/>
              </a:defRPr>
            </a:pPr>
            <a:r>
              <a:t>A smarter way to support every student's journey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6172200"/>
            <a:ext cx="59436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1">
                <a:solidFill>
                  <a:srgbClr val="AABEDC"/>
                </a:solidFill>
                <a:latin typeface="Aptos"/>
              </a:defRPr>
            </a:pPr>
            <a:r>
              <a:t>PROJECT PRESENTATION  |  5 MEMBERS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42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07899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ptos"/>
              </a:defRPr>
            </a:pPr>
            <a:r>
              <a:t>Problem &amp;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95528"/>
            <a:ext cx="1069848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CDDCF5"/>
                </a:solidFill>
                <a:latin typeface="Aptos"/>
              </a:defRPr>
            </a:pPr>
            <a:r>
              <a:t>Member 1  •  Why EduPath AI is needed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411480"/>
            <a:ext cx="4572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1500" b="1">
                <a:solidFill>
                  <a:srgbClr val="FFBE46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393192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200" b="1">
                <a:solidFill>
                  <a:srgbClr val="142346"/>
                </a:solidFill>
                <a:latin typeface="Aptos"/>
              </a:defRPr>
            </a:pPr>
            <a:r>
              <a:t>The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057400"/>
            <a:ext cx="4206240" cy="11430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000" b="0">
                <a:solidFill>
                  <a:srgbClr val="283246"/>
                </a:solidFill>
                <a:latin typeface="Aptos"/>
              </a:defRPr>
            </a:pPr>
            <a:r>
              <a:t>Colleges collect large amounts of student data, but it is often stored in separate systems.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12080" y="1645920"/>
            <a:ext cx="27432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212080" y="1755648"/>
            <a:ext cx="73152" cy="1106424"/>
          </a:xfrm>
          <a:prstGeom prst="rect">
            <a:avLst/>
          </a:prstGeom>
          <a:solidFill>
            <a:srgbClr val="2D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40680" y="1828800"/>
            <a:ext cx="23317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700" b="1">
                <a:solidFill>
                  <a:srgbClr val="142346"/>
                </a:solidFill>
                <a:latin typeface="Aptos"/>
              </a:defRPr>
            </a:pPr>
            <a:r>
              <a:t>Scattered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40680" y="2267712"/>
            <a:ext cx="2331720" cy="5760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0">
                <a:solidFill>
                  <a:srgbClr val="283246"/>
                </a:solidFill>
                <a:latin typeface="Aptos"/>
              </a:defRPr>
            </a:pPr>
            <a:r>
              <a:t>Marks, attendance, skills and placement records are disconnected.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645920"/>
            <a:ext cx="27432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0" y="1755648"/>
            <a:ext cx="73152" cy="1106424"/>
          </a:xfrm>
          <a:prstGeom prst="rect">
            <a:avLst/>
          </a:prstGeom>
          <a:solidFill>
            <a:srgbClr val="23B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58200" y="1828800"/>
            <a:ext cx="23317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700" b="1">
                <a:solidFill>
                  <a:srgbClr val="142346"/>
                </a:solidFill>
                <a:latin typeface="Aptos"/>
              </a:defRPr>
            </a:pPr>
            <a:r>
              <a:t>Late support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2267712"/>
            <a:ext cx="2331720" cy="5760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0">
                <a:solidFill>
                  <a:srgbClr val="283246"/>
                </a:solidFill>
                <a:latin typeface="Aptos"/>
              </a:defRPr>
            </a:pPr>
            <a:r>
              <a:t>Students who need help may not be identified early.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12080" y="3246120"/>
            <a:ext cx="57607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212080" y="3355848"/>
            <a:ext cx="73152" cy="1106424"/>
          </a:xfrm>
          <a:prstGeom prst="rect">
            <a:avLst/>
          </a:prstGeom>
          <a:solidFill>
            <a:srgbClr val="FFB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40680" y="3429000"/>
            <a:ext cx="53492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700" b="1">
                <a:solidFill>
                  <a:srgbClr val="142346"/>
                </a:solidFill>
                <a:latin typeface="Aptos"/>
              </a:defRPr>
            </a:pPr>
            <a:r>
              <a:t>Our goal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40680" y="3867911"/>
            <a:ext cx="5349240" cy="5760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0">
                <a:solidFill>
                  <a:srgbClr val="283246"/>
                </a:solidFill>
                <a:latin typeface="Aptos"/>
              </a:defRPr>
            </a:pPr>
            <a:r>
              <a:t>Bring student data together and identify where support is needed before challenges become serious.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166360"/>
            <a:ext cx="1042416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300" b="1">
                <a:solidFill>
                  <a:srgbClr val="2D69BE"/>
                </a:solidFill>
                <a:latin typeface="Aptos"/>
              </a:defRPr>
            </a:pPr>
            <a:r>
              <a:t>From separate records → to early, informed support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519672"/>
            <a:ext cx="1078992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5F6C82"/>
                </a:solidFill>
                <a:latin typeface="Aptos"/>
              </a:defRPr>
            </a:pPr>
            <a:r>
              <a:t>EDUPATH AI  •  STUDENT SUCCESS PLATFORM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42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07899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ptos"/>
              </a:defRPr>
            </a:pPr>
            <a:r>
              <a:t>Data Integration &amp; Student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95528"/>
            <a:ext cx="1069848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CDDCF5"/>
                </a:solidFill>
                <a:latin typeface="Aptos"/>
              </a:defRPr>
            </a:pPr>
            <a:r>
              <a:t>Member 2  •  Build a Student 360° Profile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411480"/>
            <a:ext cx="4572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1500" b="1">
                <a:solidFill>
                  <a:srgbClr val="FFBE46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08760"/>
            <a:ext cx="1078992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283246"/>
                </a:solidFill>
                <a:latin typeface="Aptos"/>
              </a:defRPr>
            </a:pPr>
            <a:r>
              <a:t>EduPath AI combines key information into one unified student profile.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148840"/>
            <a:ext cx="31546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258568"/>
            <a:ext cx="73152" cy="923544"/>
          </a:xfrm>
          <a:prstGeom prst="rect">
            <a:avLst/>
          </a:prstGeom>
          <a:solidFill>
            <a:srgbClr val="2D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27432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700" b="1">
                <a:solidFill>
                  <a:srgbClr val="142346"/>
                </a:solidFill>
                <a:latin typeface="Aptos"/>
              </a:defRPr>
            </a:pPr>
            <a:r>
              <a:t>Academic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770632"/>
            <a:ext cx="2743200" cy="3931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300" b="0">
                <a:solidFill>
                  <a:srgbClr val="283246"/>
                </a:solidFill>
                <a:latin typeface="Aptos"/>
              </a:defRPr>
            </a:pPr>
            <a:r>
              <a:t>Marks • CGPA • Attendance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60520" y="2148840"/>
            <a:ext cx="31546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60520" y="2258568"/>
            <a:ext cx="73152" cy="923544"/>
          </a:xfrm>
          <a:prstGeom prst="rect">
            <a:avLst/>
          </a:prstGeom>
          <a:solidFill>
            <a:srgbClr val="23B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2331720"/>
            <a:ext cx="27432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700" b="1">
                <a:solidFill>
                  <a:srgbClr val="142346"/>
                </a:solidFill>
                <a:latin typeface="Aptos"/>
              </a:defRPr>
            </a:pPr>
            <a:r>
              <a:t>Learning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770632"/>
            <a:ext cx="2743200" cy="3931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300" b="0">
                <a:solidFill>
                  <a:srgbClr val="283246"/>
                </a:solidFill>
                <a:latin typeface="Aptos"/>
              </a:defRPr>
            </a:pPr>
            <a:r>
              <a:t>Assignments • LMS activity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35240" y="2148840"/>
            <a:ext cx="31546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35240" y="2258568"/>
            <a:ext cx="73152" cy="923544"/>
          </a:xfrm>
          <a:prstGeom prst="rect">
            <a:avLst/>
          </a:prstGeom>
          <a:solidFill>
            <a:srgbClr val="FFB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2331720"/>
            <a:ext cx="27432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700" b="1">
                <a:solidFill>
                  <a:srgbClr val="142346"/>
                </a:solidFill>
                <a:latin typeface="Aptos"/>
              </a:defRPr>
            </a:pPr>
            <a:r>
              <a:t>Skills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2770632"/>
            <a:ext cx="2743200" cy="3931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300" b="0">
                <a:solidFill>
                  <a:srgbClr val="283246"/>
                </a:solidFill>
                <a:latin typeface="Aptos"/>
              </a:defRPr>
            </a:pPr>
            <a:r>
              <a:t>Certifications • Hackathons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703320"/>
            <a:ext cx="31546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800" y="3813048"/>
            <a:ext cx="73152" cy="923544"/>
          </a:xfrm>
          <a:prstGeom prst="rect">
            <a:avLst/>
          </a:prstGeom>
          <a:solidFill>
            <a:srgbClr val="2D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886200"/>
            <a:ext cx="27432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700" b="1">
                <a:solidFill>
                  <a:srgbClr val="142346"/>
                </a:solidFill>
                <a:latin typeface="Aptos"/>
              </a:defRPr>
            </a:pPr>
            <a:r>
              <a:t>Readiness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325112"/>
            <a:ext cx="2743200" cy="3931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300" b="0">
                <a:solidFill>
                  <a:srgbClr val="283246"/>
                </a:solidFill>
                <a:latin typeface="Aptos"/>
              </a:defRPr>
            </a:pPr>
            <a:r>
              <a:t>Aptitude • Coding • Mock interviews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60520" y="3703320"/>
            <a:ext cx="31546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60520" y="3813048"/>
            <a:ext cx="73152" cy="923544"/>
          </a:xfrm>
          <a:prstGeom prst="rect">
            <a:avLst/>
          </a:prstGeom>
          <a:solidFill>
            <a:srgbClr val="23B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89120" y="3886200"/>
            <a:ext cx="27432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700" b="1">
                <a:solidFill>
                  <a:srgbClr val="142346"/>
                </a:solidFill>
                <a:latin typeface="Aptos"/>
              </a:defRPr>
            </a:pPr>
            <a:r>
              <a:t>Placement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4325112"/>
            <a:ext cx="2743200" cy="3931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300" b="0">
                <a:solidFill>
                  <a:srgbClr val="283246"/>
                </a:solidFill>
                <a:latin typeface="Aptos"/>
              </a:defRPr>
            </a:pPr>
            <a:r>
              <a:t>Participation • Outcomes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35240" y="3703320"/>
            <a:ext cx="31546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635240" y="3813048"/>
            <a:ext cx="73152" cy="923544"/>
          </a:xfrm>
          <a:prstGeom prst="rect">
            <a:avLst/>
          </a:prstGeom>
          <a:solidFill>
            <a:srgbClr val="FFB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63840" y="3886200"/>
            <a:ext cx="27432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700" b="1">
                <a:solidFill>
                  <a:srgbClr val="142346"/>
                </a:solidFill>
                <a:latin typeface="Aptos"/>
              </a:defRPr>
            </a:pPr>
            <a:r>
              <a:t>Feedback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0" y="4325112"/>
            <a:ext cx="2743200" cy="3931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300" b="0">
                <a:solidFill>
                  <a:srgbClr val="283246"/>
                </a:solidFill>
                <a:latin typeface="Aptos"/>
              </a:defRPr>
            </a:pPr>
            <a:r>
              <a:t>Student and faculty feedback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486400"/>
            <a:ext cx="107899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500" b="1">
                <a:solidFill>
                  <a:srgbClr val="142346"/>
                </a:solidFill>
                <a:latin typeface="Aptos"/>
              </a:defRPr>
            </a:pPr>
            <a:r>
              <a:t>ONE PROFILE  •  A COMPLETE VIEW  •  LESS MANUAL CHECKING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6519672"/>
            <a:ext cx="1078992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5F6C82"/>
                </a:solidFill>
                <a:latin typeface="Aptos"/>
              </a:defRPr>
            </a:pPr>
            <a:r>
              <a:t>EDUPATH AI  •  STUDENT SUCCESS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42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07899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ptos"/>
              </a:defRPr>
            </a:pPr>
            <a:r>
              <a:t>Success Score &amp; Risk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95528"/>
            <a:ext cx="1069848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CDDCF5"/>
                </a:solidFill>
                <a:latin typeface="Aptos"/>
              </a:defRPr>
            </a:pPr>
            <a:r>
              <a:t>Member 3  •  Understand student needs early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411480"/>
            <a:ext cx="4572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1500" b="1">
                <a:solidFill>
                  <a:srgbClr val="FFBE46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28346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709928"/>
            <a:ext cx="73152" cy="1609344"/>
          </a:xfrm>
          <a:prstGeom prst="rect">
            <a:avLst/>
          </a:prstGeom>
          <a:solidFill>
            <a:srgbClr val="2D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242316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700" b="1">
                <a:solidFill>
                  <a:srgbClr val="142346"/>
                </a:solidFill>
                <a:latin typeface="Aptos"/>
              </a:defRPr>
            </a:pPr>
            <a:r>
              <a:t>Student Success Score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21992"/>
            <a:ext cx="2423160" cy="10789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0">
                <a:solidFill>
                  <a:srgbClr val="283246"/>
                </a:solidFill>
                <a:latin typeface="Aptos"/>
              </a:defRPr>
            </a:pPr>
            <a:r>
              <a:t>Example score</a:t>
            </a:r>
            <a:br/>
            <a:r>
              <a:t>55 / 100</a:t>
            </a:r>
            <a:br/>
            <a:r>
              <a:t>A summary indicator based on available student data.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94760" y="1600200"/>
            <a:ext cx="32004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794760" y="1709928"/>
            <a:ext cx="73152" cy="1609344"/>
          </a:xfrm>
          <a:prstGeom prst="rect">
            <a:avLst/>
          </a:prstGeom>
          <a:solidFill>
            <a:srgbClr val="23B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23360" y="1783080"/>
            <a:ext cx="27889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700" b="1">
                <a:solidFill>
                  <a:srgbClr val="142346"/>
                </a:solidFill>
                <a:latin typeface="Aptos"/>
              </a:defRPr>
            </a:pPr>
            <a:r>
              <a:t>Academic Risk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2221992"/>
            <a:ext cx="2788920" cy="10789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0">
                <a:solidFill>
                  <a:srgbClr val="283246"/>
                </a:solidFill>
                <a:latin typeface="Aptos"/>
              </a:defRPr>
            </a:pPr>
            <a:r>
              <a:t>• Low marks</a:t>
            </a:r>
            <a:br/>
            <a:r>
              <a:t>• Low attendance</a:t>
            </a:r>
            <a:br/>
            <a:r>
              <a:t>• Incomplete assignments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9480" y="1600200"/>
            <a:ext cx="3749039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269480" y="1709928"/>
            <a:ext cx="73152" cy="1609344"/>
          </a:xfrm>
          <a:prstGeom prst="rect">
            <a:avLst/>
          </a:prstGeom>
          <a:solidFill>
            <a:srgbClr val="FFB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79" y="1783080"/>
            <a:ext cx="3337559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700" b="1">
                <a:solidFill>
                  <a:srgbClr val="142346"/>
                </a:solidFill>
                <a:latin typeface="Aptos"/>
              </a:defRPr>
            </a:pPr>
            <a:r>
              <a:t>Placement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2221992"/>
            <a:ext cx="3337559" cy="10789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0">
                <a:solidFill>
                  <a:srgbClr val="283246"/>
                </a:solidFill>
                <a:latin typeface="Aptos"/>
              </a:defRPr>
            </a:pPr>
            <a:r>
              <a:t>• Low coding scores</a:t>
            </a:r>
            <a:br/>
            <a:r>
              <a:t>• Weak aptitude</a:t>
            </a:r>
            <a:br/>
            <a:r>
              <a:t>• Poor mock interview results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977639"/>
            <a:ext cx="36576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100" b="1">
                <a:solidFill>
                  <a:srgbClr val="142346"/>
                </a:solidFill>
                <a:latin typeface="Aptos"/>
              </a:defRPr>
            </a:pPr>
            <a:r>
              <a:t>Explainable risk detection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480560"/>
            <a:ext cx="996696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800" b="0">
                <a:solidFill>
                  <a:srgbClr val="283246"/>
                </a:solidFill>
                <a:latin typeface="Aptos"/>
              </a:defRPr>
            </a:pPr>
            <a:r>
              <a:t>The platform highlights the factors behind a risk flag—for example, low attendance, coding performance and aptitude scores.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532120"/>
            <a:ext cx="103327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300" b="0">
                <a:solidFill>
                  <a:srgbClr val="5F6C82"/>
                </a:solidFill>
                <a:latin typeface="Aptos"/>
              </a:defRPr>
            </a:pPr>
            <a:r>
              <a:t>Scores support human decisions; they do not define a student's potential.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519672"/>
            <a:ext cx="1078992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5F6C82"/>
                </a:solidFill>
                <a:latin typeface="Aptos"/>
              </a:defRPr>
            </a:pPr>
            <a:r>
              <a:t>EDUPATH AI  •  STUDENT SUCCESS PLATFORM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42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07899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ptos"/>
              </a:defRPr>
            </a:pPr>
            <a:r>
              <a:t>AI Recommendations &amp; Student Segmentation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95528"/>
            <a:ext cx="1069848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CDDCF5"/>
                </a:solidFill>
                <a:latin typeface="Aptos"/>
              </a:defRPr>
            </a:pPr>
            <a:r>
              <a:t>Member 4  •  Turn insights into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411480"/>
            <a:ext cx="4572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1500" b="1">
                <a:solidFill>
                  <a:srgbClr val="FFBE46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08760"/>
            <a:ext cx="475488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200" b="1">
                <a:solidFill>
                  <a:srgbClr val="142346"/>
                </a:solidFill>
                <a:latin typeface="Aptos"/>
              </a:defRPr>
            </a:pPr>
            <a:r>
              <a:t>Recommended next steps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57400"/>
            <a:ext cx="571500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167128"/>
            <a:ext cx="73152" cy="310896"/>
          </a:xfrm>
          <a:prstGeom prst="rect">
            <a:avLst/>
          </a:prstGeom>
          <a:solidFill>
            <a:srgbClr val="2D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53035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700" b="1">
                <a:solidFill>
                  <a:srgbClr val="142346"/>
                </a:solidFill>
                <a:latin typeface="Aptos"/>
              </a:defRPr>
            </a:pPr>
            <a:r>
              <a:t>Low coding 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679192"/>
            <a:ext cx="5303520" cy="-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283246"/>
                </a:solidFill>
                <a:latin typeface="Aptos"/>
              </a:defRPr>
            </a:pPr>
            <a:r>
              <a:t>→  Guided coding practice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715768"/>
            <a:ext cx="571500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2825496"/>
            <a:ext cx="73152" cy="310896"/>
          </a:xfrm>
          <a:prstGeom prst="rect">
            <a:avLst/>
          </a:prstGeom>
          <a:solidFill>
            <a:srgbClr val="23B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898648"/>
            <a:ext cx="53035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700" b="1">
                <a:solidFill>
                  <a:srgbClr val="142346"/>
                </a:solidFill>
                <a:latin typeface="Aptos"/>
              </a:defRPr>
            </a:pPr>
            <a:r>
              <a:t>Low aptitude score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337560"/>
            <a:ext cx="5303520" cy="-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283246"/>
                </a:solidFill>
                <a:latin typeface="Aptos"/>
              </a:defRPr>
            </a:pPr>
            <a:r>
              <a:t>→  Aptitude training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374136"/>
            <a:ext cx="571500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483864"/>
            <a:ext cx="73152" cy="310896"/>
          </a:xfrm>
          <a:prstGeom prst="rect">
            <a:avLst/>
          </a:prstGeom>
          <a:solidFill>
            <a:srgbClr val="FFB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557016"/>
            <a:ext cx="53035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700" b="1">
                <a:solidFill>
                  <a:srgbClr val="142346"/>
                </a:solidFill>
                <a:latin typeface="Aptos"/>
              </a:defRPr>
            </a:pPr>
            <a:r>
              <a:t>Low attendance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995928"/>
            <a:ext cx="5303520" cy="-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283246"/>
                </a:solidFill>
                <a:latin typeface="Aptos"/>
              </a:defRPr>
            </a:pPr>
            <a:r>
              <a:t>→  Faculty check-in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032504"/>
            <a:ext cx="571500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4142232"/>
            <a:ext cx="73152" cy="310896"/>
          </a:xfrm>
          <a:prstGeom prst="rect">
            <a:avLst/>
          </a:prstGeom>
          <a:solidFill>
            <a:srgbClr val="2D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4215384"/>
            <a:ext cx="53035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700" b="1">
                <a:solidFill>
                  <a:srgbClr val="142346"/>
                </a:solidFill>
                <a:latin typeface="Aptos"/>
              </a:defRPr>
            </a:pPr>
            <a:r>
              <a:t>Poor interview performance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4654296"/>
            <a:ext cx="5303520" cy="-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283246"/>
                </a:solidFill>
                <a:latin typeface="Aptos"/>
              </a:defRPr>
            </a:pPr>
            <a:r>
              <a:t>→  More mock interviews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690872"/>
            <a:ext cx="571500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4800600"/>
            <a:ext cx="73152" cy="310896"/>
          </a:xfrm>
          <a:prstGeom prst="rect">
            <a:avLst/>
          </a:prstGeom>
          <a:solidFill>
            <a:srgbClr val="23B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4873752"/>
            <a:ext cx="53035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700" b="1">
                <a:solidFill>
                  <a:srgbClr val="142346"/>
                </a:solidFill>
                <a:latin typeface="Aptos"/>
              </a:defRPr>
            </a:pPr>
            <a:r>
              <a:t>Skill gaps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5312664"/>
            <a:ext cx="5303520" cy="-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283246"/>
                </a:solidFill>
                <a:latin typeface="Aptos"/>
              </a:defRPr>
            </a:pPr>
            <a:r>
              <a:t>→  Suggested learning resources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03720" y="1828800"/>
            <a:ext cx="40690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903720" y="1938528"/>
            <a:ext cx="73152" cy="1609344"/>
          </a:xfrm>
          <a:prstGeom prst="rect">
            <a:avLst/>
          </a:prstGeom>
          <a:solidFill>
            <a:srgbClr val="FFB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32320" y="2011680"/>
            <a:ext cx="36576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700" b="1">
                <a:solidFill>
                  <a:srgbClr val="142346"/>
                </a:solidFill>
                <a:latin typeface="Aptos"/>
              </a:defRPr>
            </a:pPr>
            <a:r>
              <a:t>Example student segment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0" y="2450592"/>
            <a:ext cx="3657600" cy="10789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700" b="0">
                <a:solidFill>
                  <a:srgbClr val="283246"/>
                </a:solidFill>
                <a:latin typeface="Aptos"/>
              </a:defRPr>
            </a:pPr>
            <a:r>
              <a:t>Good academic performance</a:t>
            </a:r>
            <a:br/>
            <a:r>
              <a:t>+</a:t>
            </a:r>
            <a:br/>
            <a:r>
              <a:t>Low placement readiness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3886200"/>
            <a:ext cx="3749039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600" b="0">
                <a:solidFill>
                  <a:srgbClr val="283246"/>
                </a:solidFill>
                <a:latin typeface="Aptos"/>
              </a:defRPr>
            </a:pPr>
            <a:r>
              <a:t>Focused placement training can help this group prepare for opportunities.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715000"/>
            <a:ext cx="1069848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500" b="1">
                <a:solidFill>
                  <a:srgbClr val="2D69BE"/>
                </a:solidFill>
                <a:latin typeface="Aptos"/>
              </a:defRPr>
            </a:pPr>
            <a:r>
              <a:t>RIGHT SUPPORT  →  RIGHT STUDENT  →  BETTER OPPORTUNITY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6519672"/>
            <a:ext cx="1078992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5F6C82"/>
                </a:solidFill>
                <a:latin typeface="Aptos"/>
              </a:defRPr>
            </a:pPr>
            <a:r>
              <a:t>EDUPATH AI  •  STUDENT SUCCESS PLATFORM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42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07899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ptos"/>
              </a:defRPr>
            </a:pPr>
            <a:r>
              <a:t>Dashboard, Impact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95528"/>
            <a:ext cx="1069848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CDDCF5"/>
                </a:solidFill>
                <a:latin typeface="Aptos"/>
              </a:defRPr>
            </a:pPr>
            <a:r>
              <a:t>Member 5  •  A clear view for faculty and administrators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411480"/>
            <a:ext cx="4572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1500" b="1">
                <a:solidFill>
                  <a:srgbClr val="FFBE46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54480"/>
            <a:ext cx="658368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83080"/>
            <a:ext cx="59436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142346"/>
                </a:solidFill>
                <a:latin typeface="Aptos"/>
              </a:defRPr>
            </a:pPr>
            <a:r>
              <a:t>EDUPATH AI  |  OVERVIEW DASHBOARD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2331720"/>
            <a:ext cx="26517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60120" y="2441448"/>
            <a:ext cx="73152" cy="649224"/>
          </a:xfrm>
          <a:prstGeom prst="rect">
            <a:avLst/>
          </a:prstGeom>
          <a:solidFill>
            <a:srgbClr val="2D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2514600"/>
            <a:ext cx="2240279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700" b="1">
                <a:solidFill>
                  <a:srgbClr val="142346"/>
                </a:solidFill>
                <a:latin typeface="Aptos"/>
              </a:defRPr>
            </a:pPr>
            <a:r>
              <a:t>Total students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953512"/>
            <a:ext cx="2240279" cy="1188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700" b="0">
                <a:solidFill>
                  <a:srgbClr val="283246"/>
                </a:solidFill>
                <a:latin typeface="Aptos"/>
              </a:defRPr>
            </a:pPr>
            <a:r>
              <a:t>1,250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31920" y="2331720"/>
            <a:ext cx="26517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931920" y="2441448"/>
            <a:ext cx="73152" cy="649224"/>
          </a:xfrm>
          <a:prstGeom prst="rect">
            <a:avLst/>
          </a:prstGeom>
          <a:solidFill>
            <a:srgbClr val="23B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60520" y="2514600"/>
            <a:ext cx="2240279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700" b="1">
                <a:solidFill>
                  <a:srgbClr val="142346"/>
                </a:solidFill>
                <a:latin typeface="Aptos"/>
              </a:defRPr>
            </a:pPr>
            <a:r>
              <a:t>Avg. success score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60520" y="2953512"/>
            <a:ext cx="2240279" cy="1188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700" b="0">
                <a:solidFill>
                  <a:srgbClr val="283246"/>
                </a:solidFill>
                <a:latin typeface="Aptos"/>
              </a:defRPr>
            </a:pPr>
            <a:r>
              <a:t>72 / 100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120" y="3429000"/>
            <a:ext cx="26517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60120" y="3538728"/>
            <a:ext cx="73152" cy="649224"/>
          </a:xfrm>
          <a:prstGeom prst="rect">
            <a:avLst/>
          </a:prstGeom>
          <a:solidFill>
            <a:srgbClr val="FFB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3611880"/>
            <a:ext cx="2240279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700" b="1">
                <a:solidFill>
                  <a:srgbClr val="142346"/>
                </a:solidFill>
                <a:latin typeface="Aptos"/>
              </a:defRPr>
            </a:pPr>
            <a:r>
              <a:t>Academic 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050791"/>
            <a:ext cx="2240279" cy="1188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700" b="0">
                <a:solidFill>
                  <a:srgbClr val="283246"/>
                </a:solidFill>
                <a:latin typeface="Aptos"/>
              </a:defRPr>
            </a:pPr>
            <a:r>
              <a:t>120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31920" y="3429000"/>
            <a:ext cx="26517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931920" y="3538728"/>
            <a:ext cx="73152" cy="649224"/>
          </a:xfrm>
          <a:prstGeom prst="rect">
            <a:avLst/>
          </a:prstGeom>
          <a:solidFill>
            <a:srgbClr val="2D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60520" y="3611880"/>
            <a:ext cx="2240279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700" b="1">
                <a:solidFill>
                  <a:srgbClr val="142346"/>
                </a:solidFill>
                <a:latin typeface="Aptos"/>
              </a:defRPr>
            </a:pPr>
            <a:r>
              <a:t>Placement risk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60520" y="4050791"/>
            <a:ext cx="2240279" cy="1188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700" b="0">
                <a:solidFill>
                  <a:srgbClr val="283246"/>
                </a:solidFill>
                <a:latin typeface="Aptos"/>
              </a:defRPr>
            </a:pPr>
            <a:r>
              <a:t>185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4709160"/>
            <a:ext cx="585216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300" b="0">
                <a:solidFill>
                  <a:srgbClr val="5F6C82"/>
                </a:solidFill>
                <a:latin typeface="Aptos"/>
              </a:defRPr>
            </a:pPr>
            <a:r>
              <a:t>Also shows student performance, segments and recommended actions.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35240" y="1737360"/>
            <a:ext cx="34747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35240" y="1847088"/>
            <a:ext cx="73152" cy="923544"/>
          </a:xfrm>
          <a:prstGeom prst="rect">
            <a:avLst/>
          </a:prstGeom>
          <a:solidFill>
            <a:srgbClr val="23B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63840" y="1920240"/>
            <a:ext cx="3063239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700" b="1">
                <a:solidFill>
                  <a:srgbClr val="142346"/>
                </a:solidFill>
                <a:latin typeface="Aptos"/>
              </a:defRPr>
            </a:pPr>
            <a:r>
              <a:t>Key impact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2359152"/>
            <a:ext cx="3063239" cy="3931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0">
                <a:solidFill>
                  <a:srgbClr val="283246"/>
                </a:solidFill>
                <a:latin typeface="Aptos"/>
              </a:defRPr>
            </a:pPr>
            <a:r>
              <a:t>Move from reactive action to proactive support.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635240" y="3154680"/>
            <a:ext cx="34747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635240" y="3264408"/>
            <a:ext cx="73152" cy="923544"/>
          </a:xfrm>
          <a:prstGeom prst="rect">
            <a:avLst/>
          </a:prstGeom>
          <a:solidFill>
            <a:srgbClr val="FFB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63840" y="3337560"/>
            <a:ext cx="3063239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700" b="1">
                <a:solidFill>
                  <a:srgbClr val="142346"/>
                </a:solidFill>
                <a:latin typeface="Aptos"/>
              </a:defRPr>
            </a:pPr>
            <a:r>
              <a:t>Early intervention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0" y="3776472"/>
            <a:ext cx="3063239" cy="3931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0">
                <a:solidFill>
                  <a:srgbClr val="283246"/>
                </a:solidFill>
                <a:latin typeface="Aptos"/>
              </a:defRPr>
            </a:pPr>
            <a:r>
              <a:t>Identify concerns sooner and guide next steps.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43800" y="4663440"/>
            <a:ext cx="3749039" cy="10058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500" b="1">
                <a:solidFill>
                  <a:srgbClr val="142346"/>
                </a:solidFill>
                <a:latin typeface="Aptos"/>
              </a:defRPr>
            </a:pPr>
            <a:r>
              <a:t>“EduPath AI does not just track students. It helps colleges predict problems, understand the reasons, and take the right action to improve student success.”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519672"/>
            <a:ext cx="1078992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5F6C82"/>
                </a:solidFill>
                <a:latin typeface="Aptos"/>
              </a:defRPr>
            </a:pPr>
            <a:r>
              <a:t>EDUPATH AI  •  STUDENT SUCCESS PLATFORM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3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463040"/>
            <a:ext cx="10332720" cy="8229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14600"/>
            <a:ext cx="1033272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800" b="1">
                <a:solidFill>
                  <a:srgbClr val="23B4AA"/>
                </a:solidFill>
                <a:latin typeface="Aptos"/>
              </a:defRPr>
            </a:pPr>
            <a:r>
              <a:t>EduPath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337560"/>
            <a:ext cx="1033272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900" b="0">
                <a:solidFill>
                  <a:srgbClr val="DCEBFF"/>
                </a:solidFill>
                <a:latin typeface="Aptos"/>
              </a:defRPr>
            </a:pPr>
            <a:r>
              <a:t>Predict early. Understand risk. Recommend action.</a:t>
            </a:r>
          </a:p>
        </p:txBody>
      </p:sp>
      <p:sp>
        <p:nvSpPr>
          <p:cNvPr id="5" name="Oval 4"/>
          <p:cNvSpPr/>
          <p:nvPr/>
        </p:nvSpPr>
        <p:spPr>
          <a:xfrm>
            <a:off x="1828800" y="4572000"/>
            <a:ext cx="685800" cy="685800"/>
          </a:xfrm>
          <a:prstGeom prst="ellipse">
            <a:avLst/>
          </a:prstGeom>
          <a:solidFill>
            <a:srgbClr val="2D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4754880"/>
            <a:ext cx="6858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42346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4754880"/>
            <a:ext cx="155448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ptos"/>
              </a:defRPr>
            </a:pPr>
            <a:r>
              <a:t>INTEGRATE</a:t>
            </a:r>
          </a:p>
        </p:txBody>
      </p:sp>
      <p:sp>
        <p:nvSpPr>
          <p:cNvPr id="8" name="Oval 7"/>
          <p:cNvSpPr/>
          <p:nvPr/>
        </p:nvSpPr>
        <p:spPr>
          <a:xfrm>
            <a:off x="4754880" y="4572000"/>
            <a:ext cx="685800" cy="685800"/>
          </a:xfrm>
          <a:prstGeom prst="ellipse">
            <a:avLst/>
          </a:prstGeom>
          <a:solidFill>
            <a:srgbClr val="23B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0" y="4754880"/>
            <a:ext cx="6858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42346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7840" y="4754880"/>
            <a:ext cx="155448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ptos"/>
              </a:defRPr>
            </a:pPr>
            <a:r>
              <a:t>IDENTIFY</a:t>
            </a:r>
          </a:p>
        </p:txBody>
      </p:sp>
      <p:sp>
        <p:nvSpPr>
          <p:cNvPr id="11" name="Oval 10"/>
          <p:cNvSpPr/>
          <p:nvPr/>
        </p:nvSpPr>
        <p:spPr>
          <a:xfrm>
            <a:off x="7680960" y="4572000"/>
            <a:ext cx="685800" cy="685800"/>
          </a:xfrm>
          <a:prstGeom prst="ellipse">
            <a:avLst/>
          </a:prstGeom>
          <a:solidFill>
            <a:srgbClr val="FFB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0" y="4754880"/>
            <a:ext cx="6858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>
                <a:solidFill>
                  <a:srgbClr val="142346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4754880"/>
            <a:ext cx="155448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ptos"/>
              </a:defRPr>
            </a:pPr>
            <a:r>
              <a:t>SUPPORT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989320"/>
            <a:ext cx="103327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400" b="0">
                <a:solidFill>
                  <a:srgbClr val="AABEDC"/>
                </a:solidFill>
                <a:latin typeface="Aptos"/>
              </a:defRPr>
            </a:pPr>
            <a:r>
              <a:t>A smarter, more supportive student journey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